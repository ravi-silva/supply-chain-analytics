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566928" cy="502920"/>
          </a:xfrm>
          <a:prstGeom prst="rect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8440" y="4572000"/>
            <a:ext cx="566928" cy="502920"/>
          </a:xfrm>
          <a:prstGeom prst="rect">
            <a:avLst/>
          </a:prstGeom>
          <a:solidFill>
            <a:srgbClr val="3E5C7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572000"/>
            <a:ext cx="566928" cy="502920"/>
          </a:xfrm>
          <a:prstGeom prst="rect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5212080"/>
            <a:ext cx="566928" cy="502920"/>
          </a:xfrm>
          <a:prstGeom prst="rect">
            <a:avLst/>
          </a:prstGeom>
          <a:solidFill>
            <a:srgbClr val="3E5C7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78440" y="5212080"/>
            <a:ext cx="566928" cy="502920"/>
          </a:xfrm>
          <a:prstGeom prst="rect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5212080"/>
            <a:ext cx="566928" cy="502920"/>
          </a:xfrm>
          <a:prstGeom prst="rect">
            <a:avLst/>
          </a:prstGeom>
          <a:solidFill>
            <a:srgbClr val="3E5C76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5852160"/>
            <a:ext cx="566928" cy="502920"/>
          </a:xfrm>
          <a:prstGeom prst="rect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78440" y="5852160"/>
            <a:ext cx="566928" cy="502920"/>
          </a:xfrm>
          <a:prstGeom prst="rect">
            <a:avLst/>
          </a:prstGeom>
          <a:solidFill>
            <a:srgbClr val="3E5C76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0" y="5852160"/>
            <a:ext cx="566928" cy="502920"/>
          </a:xfrm>
          <a:prstGeom prst="rect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CIÊNCIA DE DADOS  ·  SUPPLY CHAIN ANALYTICS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Cadeia de Suprimentos: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à Decisão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análise de 49.890 pedidos (2022–2024) revelou R$ 100 milhões em risco concentrado, e um plano de ação com retorno de 22x sobre o investimento em estoque de segurança.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cadeia eficiente no curto prazo, mas vulnerável no longo prazo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distribui materiais industriais, ferramentas, EPIs, fixadores, materiais elétricos e de manutenção, para clientes em todo o Brasil, com fornecedores nacionais e internacionais e prazos de entrega de 4 a 42 dias.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42032" cy="3063240"/>
          </a:xfrm>
          <a:prstGeom prst="roundRect">
            <a:avLst>
              <a:gd name="adj" fmla="val 287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898648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8096" y="359359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Rupturas de estoque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68096" y="417880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produtos de alto giro durante períodos de pico de demanda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6704" y="2606040"/>
            <a:ext cx="2542032" cy="3063240"/>
          </a:xfrm>
          <a:prstGeom prst="roundRect">
            <a:avLst>
              <a:gd name="adj" fmla="val 287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2898648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59359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Atrasos internacionais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66160" y="417880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internacionais comprometem o abastecimento com frequência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4768" y="2606040"/>
            <a:ext cx="2542032" cy="3063240"/>
          </a:xfrm>
          <a:prstGeom prst="roundRect">
            <a:avLst>
              <a:gd name="adj" fmla="val 287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898648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64224" y="359359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logístico alto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64224" y="417880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visibilidade clara sobre os principais direcionadores de custo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42832" y="2606040"/>
            <a:ext cx="2542032" cy="3063240"/>
          </a:xfrm>
          <a:prstGeom prst="roundRect">
            <a:avLst>
              <a:gd name="adj" fmla="val 287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98864" y="2898648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2" name="Text 20"/>
          <p:cNvSpPr/>
          <p:nvPr/>
        </p:nvSpPr>
        <p:spPr>
          <a:xfrm>
            <a:off x="9198864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62288" y="359359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 por intuição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62288" y="417880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previsão de demanda estruturada, decisão empírica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anos de operação, retratados em quase 50 mil pedidos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57784" y="23317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2104" y="25328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49.890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32104" y="3502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registrados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2104" y="3410712"/>
            <a:ext cx="457200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8" name="Shape 6"/>
          <p:cNvSpPr/>
          <p:nvPr/>
        </p:nvSpPr>
        <p:spPr>
          <a:xfrm>
            <a:off x="4334256" y="23317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08576" y="25328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2022–2024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08576" y="3502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anos de histórico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08576" y="3410712"/>
            <a:ext cx="457200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2" name="Shape 10"/>
          <p:cNvSpPr/>
          <p:nvPr/>
        </p:nvSpPr>
        <p:spPr>
          <a:xfrm>
            <a:off x="8110728" y="23317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85048" y="25328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85048" y="3502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distintos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85048" y="3410712"/>
            <a:ext cx="457200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6" name="Shape 14"/>
          <p:cNvSpPr/>
          <p:nvPr/>
        </p:nvSpPr>
        <p:spPr>
          <a:xfrm>
            <a:off x="557784" y="43891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" y="45902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32104" y="55595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ativos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" y="5468112"/>
            <a:ext cx="457200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0" name="Shape 18"/>
          <p:cNvSpPr/>
          <p:nvPr/>
        </p:nvSpPr>
        <p:spPr>
          <a:xfrm>
            <a:off x="4334256" y="43891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08576" y="45902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608576" y="55595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destino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08576" y="5468112"/>
            <a:ext cx="457200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4" name="Shape 22"/>
          <p:cNvSpPr/>
          <p:nvPr/>
        </p:nvSpPr>
        <p:spPr>
          <a:xfrm>
            <a:off x="8110728" y="43891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85048" y="45902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385048" y="55595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de produto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85048" y="5468112"/>
            <a:ext cx="457200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 e Fixadores dominam a demanda o ano inteiro, e o 4º trimestre é sempre o pico</a:t>
            </a:r>
            <a:endParaRPr lang="en-US" sz="2400" dirty="0"/>
          </a:p>
        </p:txBody>
      </p:sp>
      <p:pic>
        <p:nvPicPr>
          <p:cNvPr id="4" name="Image 0" descr="/sessions/relaxed-vibrant-einstein/mnt/outputs/nb_images/01_eda_img03_cell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6360" y="1691640"/>
            <a:ext cx="7336231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138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Out–Dez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24865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 crítico de demanda em quase todas as categorias. A categoria EPI atinge seu pico absoluto em outubro, com 486 mil unidades pedidas.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DE ESTOQUE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ruptura é sazonal e previsível, e piora a cada ano no 4º trimestre</a:t>
            </a:r>
            <a:endParaRPr lang="en-US" sz="2400" dirty="0"/>
          </a:p>
        </p:txBody>
      </p:sp>
      <p:pic>
        <p:nvPicPr>
          <p:cNvPr id="4" name="Image 0" descr="/sessions/relaxed-vibrant-einstein/mnt/outputs/nb_images/01_eda_img07_cell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912" y="1691640"/>
            <a:ext cx="9933127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138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5,0% → 6,3%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24865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pico de ruptura no T4 em três anos consecutivos (2022 → 2023 → 2024), sinal de que a reposição não acompanha o crescimento da demanda.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Fornecedores internacionais atrasam até 15x mais que os nacionais</a:t>
            </a:r>
            <a:endParaRPr lang="en-US" sz="2400" dirty="0"/>
          </a:p>
        </p:txBody>
      </p:sp>
      <p:pic>
        <p:nvPicPr>
          <p:cNvPr id="4" name="Image 0" descr="/sessions/relaxed-vibrant-einstein/mnt/outputs/nb_images/01_eda_img04_cell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912" y="1691640"/>
            <a:ext cx="9933127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138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24865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entregas chegam com atraso. O atraso médio dos fornecedores internacionais (~1,5 dia) é cerca de 15x maior que o dos nacionais (~0,10 dia).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SERVIÇO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maior o lead time, menor o nível de serviço (OTIF)</a:t>
            </a:r>
            <a:endParaRPr lang="en-US" sz="2400" dirty="0"/>
          </a:p>
        </p:txBody>
      </p:sp>
      <p:pic>
        <p:nvPicPr>
          <p:cNvPr id="4" name="Image 0" descr="/sessions/relaxed-vibrant-einstein/mnt/outputs/nb_images/03_desempenho_fornecedores_img03_cell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" y="1691640"/>
            <a:ext cx="10465308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9320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0932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25–45 dias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20293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lead time dos fornecedores internacionais, com OTIF abaixo de 85%, contra ~5 dias e OTIF acima de 90% nos fornecedores nacionais.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SERVIÇO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10 fornecedores está abaixo da meta de OTIF de 90%</a:t>
            </a:r>
            <a:endParaRPr lang="en-US" sz="2400" dirty="0"/>
          </a:p>
        </p:txBody>
      </p:sp>
      <p:pic>
        <p:nvPicPr>
          <p:cNvPr id="4" name="Image 0" descr="/sessions/relaxed-vibrant-einstein/mnt/outputs/nb_images/03_desempenho_fornecedores_img02_cell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" y="1691640"/>
            <a:ext cx="10465308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9320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0932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de 10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20293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operam abaixo da meta de 90%. AsiaTools Manufacturing e China Industrial Supplies concentram o maior risco combinado de atraso e custo.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FORNECIMENTO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fornecedores concentram 62% de todo o valor de compras</a:t>
            </a:r>
            <a:endParaRPr lang="en-US" sz="2400" dirty="0"/>
          </a:p>
        </p:txBody>
      </p:sp>
      <p:pic>
        <p:nvPicPr>
          <p:cNvPr id="4" name="Image 0" descr="/sessions/relaxed-vibrant-einstein/mnt/outputs/nb_images/03_desempenho_fornecedores_img01_cell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091672" cy="300587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98681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898681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36,6%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008409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fatia da EPI Total Equipamentos sozinha. Qualquer instabilidade nesse fornecedor compromete um terço de todo o abastecimento.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FORNECEDORES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separa os 10 fornecedores em 3 perfis de risco muito diferentes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E8B5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520440" cy="3657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830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 Estratégicos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24028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32735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240280" y="32735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pedidos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38039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90,7%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240280" y="38039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433425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 dias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240280" y="433425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" y="4864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R$ 144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240280" y="48646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médio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5532120"/>
            <a:ext cx="311810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3212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Expandir parceria e priorizar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4256" y="17830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34256" y="17830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E8720C"/>
          </a:solidFill>
          <a:ln/>
        </p:spPr>
      </p:sp>
      <p:sp>
        <p:nvSpPr>
          <p:cNvPr id="22" name="Shape 20"/>
          <p:cNvSpPr/>
          <p:nvPr/>
        </p:nvSpPr>
        <p:spPr>
          <a:xfrm>
            <a:off x="4334256" y="2194560"/>
            <a:ext cx="3520440" cy="36576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3" name="Text 21"/>
          <p:cNvSpPr/>
          <p:nvPr/>
        </p:nvSpPr>
        <p:spPr>
          <a:xfrm>
            <a:off x="4590288" y="17830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🟡  Distantes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90288" y="2743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025896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90288" y="32735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25896" y="32735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pedidos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90288" y="38039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88,7%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025896" y="38039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90288" y="433425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28,7 dias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025896" y="433425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90288" y="4864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R$ 627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025896" y="48646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médio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35424" y="5532120"/>
            <a:ext cx="311810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553212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Manter só sem alternativa nacional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19872" y="17830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19872" y="17830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C0392B"/>
          </a:solidFill>
          <a:ln/>
        </p:spPr>
      </p:sp>
      <p:sp>
        <p:nvSpPr>
          <p:cNvPr id="38" name="Shape 36"/>
          <p:cNvSpPr/>
          <p:nvPr/>
        </p:nvSpPr>
        <p:spPr>
          <a:xfrm>
            <a:off x="8119872" y="2194560"/>
            <a:ext cx="352044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8375904" y="17830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 Críticos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8375904" y="2743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9811512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375904" y="32735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11,3%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9811512" y="32735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pedidos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375904" y="38039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74,7%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9811512" y="38039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375904" y="433425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40,8 dias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9811512" y="433425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375904" y="4864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R$ 430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9811512" y="48646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médio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321040" y="5532120"/>
            <a:ext cx="311810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553212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Substituição prioritária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ABC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 dos produtos respondem por quase 80% do valor consumido</a:t>
            </a:r>
            <a:endParaRPr lang="en-US" sz="2400" dirty="0"/>
          </a:p>
        </p:txBody>
      </p:sp>
      <p:pic>
        <p:nvPicPr>
          <p:cNvPr id="4" name="Image 0" descr="/sessions/relaxed-vibrant-einstein/mnt/outputs/nb_images/04_classificacao_abc_xyz_img01_cell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682" y="1691640"/>
            <a:ext cx="9965588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138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R$ 131,4 MM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24865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valor da Classe A, apenas 7 produtos (35% do portfólio) que devem concentrar toda a prioridade de gestão de estoque e fornecimento.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ABC-XYZ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quadrante AY concentra R$ 100 milhões em produtos de demanda instável</a:t>
            </a:r>
            <a:endParaRPr lang="en-US" sz="2400" dirty="0"/>
          </a:p>
        </p:txBody>
      </p:sp>
      <p:pic>
        <p:nvPicPr>
          <p:cNvPr id="4" name="Image 0" descr="/sessions/relaxed-vibrant-einstein/mnt/outputs/nb_images/04_classificacao_abc_xyz_img03_cell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1691640"/>
            <a:ext cx="973836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138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itens = 60%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24865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valor total do portfólio está concentrado em apenas 5 produtos de alto valor e demanda variável (AY), a prioridade máxima de gestão.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DEMANDA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modelo erra menos de 10%. A variabilidade dos itens AY é real</a:t>
            </a:r>
            <a:endParaRPr lang="en-US" sz="2400" dirty="0"/>
          </a:p>
        </p:txBody>
      </p:sp>
      <p:pic>
        <p:nvPicPr>
          <p:cNvPr id="4" name="Image 0" descr="/sessions/relaxed-vibrant-einstein/mnt/outputs/nb_images/05_previsao_demanda_img05_cell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091672" cy="29736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66447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866447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Holt-Winters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4976175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venceu (ou empatou) em 3 dos 5 produtos AY na validação walk-forward. O Prophet foi consistentemente o pior modelo para este portfólio.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DEMANDA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previsão aponta alta de demanda para março/2025 nos 5 itens críticos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previsto, próximos 3 meses (Jan–Mar/2025)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577840" cy="786384"/>
          </a:xfrm>
          <a:prstGeom prst="roundRect">
            <a:avLst>
              <a:gd name="adj" fmla="val 6977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4048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Luva de Proteção CA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5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117.404 un.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27157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· MAPE 10,3%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36976"/>
            <a:ext cx="5577840" cy="786384"/>
          </a:xfrm>
          <a:prstGeom prst="roundRect">
            <a:avLst>
              <a:gd name="adj" fmla="val 6977"/>
            </a:avLst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3101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Óculos de Segurança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808" y="36210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100.883 un.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36210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· MAPE 12,5%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42232"/>
            <a:ext cx="5577840" cy="786384"/>
          </a:xfrm>
          <a:prstGeom prst="roundRect">
            <a:avLst>
              <a:gd name="adj" fmla="val 6977"/>
            </a:avLst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42153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Protetor Auricular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45262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95.506 un.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34640" y="4526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· MAPE 15,3%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047488"/>
            <a:ext cx="5577840" cy="786384"/>
          </a:xfrm>
          <a:prstGeom prst="roundRect">
            <a:avLst>
              <a:gd name="adj" fmla="val 6977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5120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de Linha Industrial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54315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9.755 un.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34640" y="5431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MAPE 18,9%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952744"/>
            <a:ext cx="5577840" cy="786384"/>
          </a:xfrm>
          <a:prstGeom prst="roundRect">
            <a:avLst>
              <a:gd name="adj" fmla="val 6977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60258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Capacete de Segurança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7.482 un.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834640" y="63367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· MAPE 19,2%</a:t>
            </a:r>
            <a:endParaRPr lang="en-US" sz="1050" dirty="0"/>
          </a:p>
        </p:txBody>
      </p:sp>
      <p:pic>
        <p:nvPicPr>
          <p:cNvPr id="25" name="Image 0" descr="/sessions/relaxed-vibrant-einstein/mnt/outputs/nb_images/05_previsao_demanda_img06_cell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3602778" cy="47091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ESTOQUE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de pedido está subdimensionado em 100% dos itens críticos</a:t>
            </a:r>
            <a:endParaRPr lang="en-US" sz="2400" dirty="0"/>
          </a:p>
        </p:txBody>
      </p:sp>
      <p:pic>
        <p:nvPicPr>
          <p:cNvPr id="4" name="Image 0" descr="/sessions/relaxed-vibrant-einstein/mnt/outputs/nb_images/06_estoque_pp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739" y="1691640"/>
            <a:ext cx="7727474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5896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4589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100x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56869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diferença entre o PP atual do sistema e o PP otimizado. O Protetor Auricular, por exemplo, deveria sair de 500 para 50.125 unidades.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ESTOQUE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cobertura real de estoque está muito abaixo do necessário</a:t>
            </a:r>
            <a:endParaRPr lang="en-US" sz="2400" dirty="0"/>
          </a:p>
        </p:txBody>
      </p:sp>
      <p:pic>
        <p:nvPicPr>
          <p:cNvPr id="4" name="Image 0" descr="/sessions/relaxed-vibrant-einstein/mnt/outputs/nb_images/06_estoque_cober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739" y="1691640"/>
            <a:ext cx="7727474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5896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4589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 dia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56869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cobertura atual da Luva de Proteção CA, contra 30,2 dias recomendados para sustentar o nível de serviço-alvo de 98%.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DA ESTRATÉGIA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estratégia de estoque de segurança devolve 22x o investimento</a:t>
            </a:r>
            <a:endParaRPr lang="en-US" sz="2400" dirty="0"/>
          </a:p>
        </p:txBody>
      </p:sp>
      <p:pic>
        <p:nvPicPr>
          <p:cNvPr id="4" name="Image 0" descr="/sessions/relaxed-vibrant-einstein/mnt/outputs/nb_images/06_estoque_impac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449" y="1691640"/>
            <a:ext cx="8610053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138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R$ 7,8 milhões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337560" y="5248656"/>
            <a:ext cx="8028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retorno líquido estimado: R$ 8,1 milhões em risco financeiro mitigado contra R$ 365 mil de custo anual de manutenção do estoque de segurança.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ações prioritárias para transformar a cadeia de suprimentos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73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7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Atualizar o Ponto de Pedido no ERP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valores otimizados calculados por produto, impacto imediato na eliminação do risco sistêmico de ruptura.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418320" y="19431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0" y="19431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imediato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894076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94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2779776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Reposição emergencial dos 5 itens AY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127248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atual está em estado crítico em 100% dos casos analisados.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18320" y="293979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29397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2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89077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8907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3776472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Qualificar substituto para China Industrial Supplies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17320" y="412394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9,9% dos pedidos dependem de um fornecedor com baixa confiabilidade (OTIF 77,5%).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18320" y="3936492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8720C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0" y="39364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681728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488746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874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417320" y="4773168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Parametrizar lotes EOQ no sistema de compras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17320" y="512064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número de pedidos emitidos por ano e o custo administrativo de compra.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418320" y="493318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3E5C76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0" y="49331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678424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749808" y="588416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58841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417320" y="576986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Diversificar a base de fornecedores regionais/nacionais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417320" y="611733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 dependência dos 3 fornecedores que concentram 62% do valor de compras.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418320" y="592988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3E5C76"/>
          </a:solidFill>
          <a:ln/>
        </p:spPr>
      </p:sp>
      <p:sp>
        <p:nvSpPr>
          <p:cNvPr id="38" name="Text 36"/>
          <p:cNvSpPr/>
          <p:nvPr/>
        </p:nvSpPr>
        <p:spPr>
          <a:xfrm>
            <a:off x="9418320" y="59298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49.890 pedidos a um plano de ação com retorno de 22x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30175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384048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ruptura geral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4365C"/>
          </a:solidFill>
          <a:ln/>
        </p:spPr>
      </p:sp>
      <p:sp>
        <p:nvSpPr>
          <p:cNvPr id="8" name="Text 6"/>
          <p:cNvSpPr/>
          <p:nvPr/>
        </p:nvSpPr>
        <p:spPr>
          <a:xfrm>
            <a:off x="3584448" y="30175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84448" y="384048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atraso nas entregas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4365C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30175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R$ 100 MM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19088" y="384048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risco concentrado (itens 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4365C"/>
          </a:solidFill>
          <a:ln/>
        </p:spPr>
      </p:sp>
      <p:sp>
        <p:nvSpPr>
          <p:cNvPr id="14" name="Text 12"/>
          <p:cNvSpPr/>
          <p:nvPr/>
        </p:nvSpPr>
        <p:spPr>
          <a:xfrm>
            <a:off x="9253728" y="30175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53728" y="384048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da estratégia de estoque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V.  ·  Projeto de Ciência de Dados em Supply Chain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Planejamento da Cadeia de Suprimentos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Cadeia de Suprimentos: Do Dado à Decisão</dc:title>
  <dc:subject>PptxGenJS Presentation</dc:subject>
  <dc:creator>Rafael V.</dc:creator>
  <cp:lastModifiedBy>Rafael V.</cp:lastModifiedBy>
  <cp:revision>1</cp:revision>
  <dcterms:created xsi:type="dcterms:W3CDTF">2026-08-02T01:22:55Z</dcterms:created>
  <dcterms:modified xsi:type="dcterms:W3CDTF">2026-08-02T01:22:55Z</dcterms:modified>
</cp:coreProperties>
</file>